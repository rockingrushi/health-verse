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1097280"/>
            <a:ext cx="3840480" cy="457200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8FAFC"/>
                </a:solidFill>
              </a:defRPr>
            </a:pPr>
            <a:r>
              <a:t>FINAL YEAR B.TECH CSE PROJECT (2025–2026)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628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400" b="1">
                <a:solidFill>
                  <a:srgbClr val="F8FAFC"/>
                </a:solidFill>
              </a:defRPr>
            </a:pPr>
            <a:r>
              <a:t>HealthVerse</a:t>
            </a:r>
          </a:p>
          <a:p>
            <a:pPr>
              <a:defRPr sz="2400" b="1">
                <a:solidFill>
                  <a:srgbClr val="10B981"/>
                </a:solidFill>
              </a:defRPr>
            </a:pPr>
            <a:r>
              <a:t>Smart Healthcare Resource Discovery &amp; Management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65760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A unified, multi-tier healthcare ecosystem integrating geospatial hospital discovery, live bed &amp; resource telemetry, complete 8-group blood bank inventory, and automated distance-aware emergency email notifications across India.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5120640"/>
            <a:ext cx="10362895" cy="10972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5212080"/>
            <a:ext cx="9966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8FAFC"/>
                </a:solidFill>
              </a:defRPr>
            </a:pPr>
            <a:r>
              <a:t>Developer: Rushi (Rockingrushi)  |  Architecture: React 19 + TypeScript + FastAPI + Supabase PostgreSQL</a:t>
            </a:r>
          </a:p>
          <a:p>
            <a:pPr>
              <a:defRPr sz="1100">
                <a:solidFill>
                  <a:srgbClr val="10B981"/>
                </a:solidFill>
              </a:defRPr>
            </a:pPr>
            <a:r>
              <a:t>GitHub Repository: https://github.com/Rockingrushi/HEALTH-VERSE.git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F766E"/>
                </a:solidFill>
              </a:defRPr>
            </a:pPr>
            <a:r>
              <a:t>PROJECT MOTIVATION &amp;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Problem Statement vs. HealthVerse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HealthVerse — Final Year B.Tech CSE Project | Slide 2 of 11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120640" cy="475488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DC2626"/>
                </a:solidFill>
              </a:defRPr>
            </a:pPr>
            <a:r>
              <a:t>❌ Current Healthcare Pain Points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• Information Asymmetry: Patients have no unified portal to check real-time bed or ICU availability.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• Emergency Triage Delay: Locating ventilators and oxygen cylinders requires manual phone calls during critical hours.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• Blood Bank Search Friction: Finding specific blood units (e.g., O-, AB+) across scattered facilities causes life-threatening delays.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• Ambulance Coordination Gap: Lack of visibility into active vs. offline emergency vehicles.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• Facility Overcrowding: Asymmetric data overburdens select hospitals while nearby clinics have open capacity.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371600"/>
            <a:ext cx="5212080" cy="4754880"/>
          </a:xfrm>
          <a:prstGeom prst="roundRect">
            <a:avLst/>
          </a:prstGeom>
          <a:solidFill>
            <a:srgbClr val="F0FDFA"/>
          </a:solidFill>
          <a:ln w="12700">
            <a:solidFill>
              <a:srgbClr val="99F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554480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F766E"/>
                </a:solidFill>
              </a:defRPr>
            </a:pPr>
            <a:r>
              <a:t>✅ The HealthVerse Solution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• Centralized Discovery Hub: Unified directory of verified Indian hospitals with live resource metrics.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• Real-Time Telemetry Sync: Direct administrative controls for beds, staff, oxygen, waiting times, and pharmacy.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• 8-Group Blood Inventory: Instant inventory tracking across A+, A-, B+, B-, AB+, AB-, O+, O-.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• Interactive India Map: Leaflet + OpenStreetMap rendering verified facilities with dynamic coordinate popups.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• Smart Email Alerts Engine: Haversine distance-aware notifications delivered automatically upon resource changes.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F766E"/>
                </a:solidFill>
              </a:defRPr>
            </a:pPr>
            <a:r>
              <a:t>TECHNICAL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Multi-Tier System Architecture &amp; Data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HealthVerse — Final Year B.Tech CSE Project | Slide 3 of 11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383280" cy="46634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463040"/>
            <a:ext cx="3383280" cy="64008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8FAFC"/>
                </a:solidFill>
              </a:defRPr>
            </a:pPr>
            <a:r>
              <a:t>Tier 1: Presentation (SPA)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194560"/>
            <a:ext cx="310896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F766E"/>
                </a:solidFill>
              </a:defRPr>
            </a:pPr>
            <a:r>
              <a:t>React 19, TypeScript, Vite 8, Tailwind CSS</a:t>
            </a:r>
          </a:p>
          <a:p>
            <a:pPr>
              <a:spcBef>
                <a:spcPts val="600"/>
              </a:spcBef>
              <a:defRPr sz="1000">
                <a:solidFill>
                  <a:srgbClr val="0F172A"/>
                </a:solidFill>
              </a:defRPr>
            </a:pPr>
            <a:r>
              <a:t>• Component-driven responsive Single Page Application</a:t>
            </a:r>
          </a:p>
          <a:p>
            <a:pPr>
              <a:spcBef>
                <a:spcPts val="600"/>
              </a:spcBef>
              <a:defRPr sz="1000">
                <a:solidFill>
                  <a:srgbClr val="0F172A"/>
                </a:solidFill>
              </a:defRPr>
            </a:pPr>
            <a:r>
              <a:t>• Role-based navigation guards (Patient/Hosp/Super)</a:t>
            </a:r>
          </a:p>
          <a:p>
            <a:pPr>
              <a:spcBef>
                <a:spcPts val="600"/>
              </a:spcBef>
              <a:defRPr sz="1000">
                <a:solidFill>
                  <a:srgbClr val="0F172A"/>
                </a:solidFill>
              </a:defRPr>
            </a:pPr>
            <a:r>
              <a:t>• TanStack React Query for async caching &amp; invalidation</a:t>
            </a:r>
          </a:p>
          <a:p>
            <a:pPr>
              <a:spcBef>
                <a:spcPts val="600"/>
              </a:spcBef>
              <a:defRPr sz="1000">
                <a:solidFill>
                  <a:srgbClr val="0F172A"/>
                </a:solidFill>
              </a:defRPr>
            </a:pPr>
            <a:r>
              <a:t>• Interactive Leaflet India Map with custom markers</a:t>
            </a:r>
          </a:p>
          <a:p>
            <a:pPr>
              <a:spcBef>
                <a:spcPts val="600"/>
              </a:spcBef>
              <a:defRPr sz="1000">
                <a:solidFill>
                  <a:srgbClr val="0F172A"/>
                </a:solidFill>
              </a:defRPr>
            </a:pPr>
            <a:r>
              <a:t>• Radix UI accessible design primitives &amp; Lucide icons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463040"/>
            <a:ext cx="3383280" cy="46634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89120" y="1463040"/>
            <a:ext cx="3383280" cy="6400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8FAFC"/>
                </a:solidFill>
              </a:defRPr>
            </a:pPr>
            <a:r>
              <a:t>Tier 2: Application / Services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26280" y="2194560"/>
            <a:ext cx="310896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FastAPI Python 3.11 Microservices</a:t>
            </a:r>
          </a:p>
          <a:p>
            <a:pPr>
              <a:spcBef>
                <a:spcPts val="600"/>
              </a:spcBef>
              <a:defRPr sz="1000">
                <a:solidFill>
                  <a:srgbClr val="0F172A"/>
                </a:solidFill>
              </a:defRPr>
            </a:pPr>
            <a:r>
              <a:t>• Asynchronous Uvicorn ASGI server</a:t>
            </a:r>
          </a:p>
          <a:p>
            <a:pPr>
              <a:spcBef>
                <a:spcPts val="600"/>
              </a:spcBef>
              <a:defRPr sz="1000">
                <a:solidFill>
                  <a:srgbClr val="0F172A"/>
                </a:solidFill>
              </a:defRPr>
            </a:pPr>
            <a:r>
              <a:t>• Haversine spatial distance matching algorithm</a:t>
            </a:r>
          </a:p>
          <a:p>
            <a:pPr>
              <a:spcBef>
                <a:spcPts val="600"/>
              </a:spcBef>
              <a:defRPr sz="1000">
                <a:solidFill>
                  <a:srgbClr val="0F172A"/>
                </a:solidFill>
              </a:defRPr>
            </a:pPr>
            <a:r>
              <a:t>• Server-side Resend API transactional email client</a:t>
            </a:r>
          </a:p>
          <a:p>
            <a:pPr>
              <a:spcBef>
                <a:spcPts val="600"/>
              </a:spcBef>
              <a:defRPr sz="1000">
                <a:solidFill>
                  <a:srgbClr val="0F172A"/>
                </a:solidFill>
              </a:defRPr>
            </a:pPr>
            <a:r>
              <a:t>• Anti-spam 1-hour cooldown execution engine</a:t>
            </a:r>
          </a:p>
          <a:p>
            <a:pPr>
              <a:spcBef>
                <a:spcPts val="600"/>
              </a:spcBef>
              <a:defRPr sz="1000">
                <a:solidFill>
                  <a:srgbClr val="0F172A"/>
                </a:solidFill>
              </a:defRPr>
            </a:pPr>
            <a:r>
              <a:t>• Pydantic v2 strict schema validation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463040"/>
            <a:ext cx="3383280" cy="46634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46720" y="1463040"/>
            <a:ext cx="3383280" cy="6400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8FAFC"/>
                </a:solidFill>
              </a:defRPr>
            </a:pPr>
            <a:r>
              <a:t>Tier 3: Persistence &amp; Auth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83880" y="2194560"/>
            <a:ext cx="310896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0B981"/>
                </a:solidFill>
              </a:defRPr>
            </a:pPr>
            <a:r>
              <a:t>Supabase Cloud (PostgreSQL 15)</a:t>
            </a:r>
          </a:p>
          <a:p>
            <a:pPr>
              <a:spcBef>
                <a:spcPts val="600"/>
              </a:spcBef>
              <a:defRPr sz="1000">
                <a:solidFill>
                  <a:srgbClr val="0F172A"/>
                </a:solidFill>
              </a:defRPr>
            </a:pPr>
            <a:r>
              <a:t>• PostgreSQL engine with foreign key cascade rules</a:t>
            </a:r>
          </a:p>
          <a:p>
            <a:pPr>
              <a:spcBef>
                <a:spcPts val="600"/>
              </a:spcBef>
              <a:defRPr sz="1000">
                <a:solidFill>
                  <a:srgbClr val="0F172A"/>
                </a:solidFill>
              </a:defRPr>
            </a:pPr>
            <a:r>
              <a:t>• Supabase Row Level Security (RLS) enforcement</a:t>
            </a:r>
          </a:p>
          <a:p>
            <a:pPr>
              <a:spcBef>
                <a:spcPts val="600"/>
              </a:spcBef>
              <a:defRPr sz="1000">
                <a:solidFill>
                  <a:srgbClr val="0F172A"/>
                </a:solidFill>
              </a:defRPr>
            </a:pPr>
            <a:r>
              <a:t>• GoTrue JWT user authentication &amp; session management</a:t>
            </a:r>
          </a:p>
          <a:p>
            <a:pPr>
              <a:spcBef>
                <a:spcPts val="600"/>
              </a:spcBef>
              <a:defRPr sz="1000">
                <a:solidFill>
                  <a:srgbClr val="0F172A"/>
                </a:solidFill>
              </a:defRPr>
            </a:pPr>
            <a:r>
              <a:t>• Automated updated_at timestamp trigger functions</a:t>
            </a:r>
          </a:p>
          <a:p>
            <a:pPr>
              <a:spcBef>
                <a:spcPts val="600"/>
              </a:spcBef>
              <a:defRPr sz="1000">
                <a:solidFill>
                  <a:srgbClr val="0F172A"/>
                </a:solidFill>
              </a:defRPr>
            </a:pPr>
            <a:r>
              <a:t>• Storage buckets for hospital media (logos &amp; banners)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F766E"/>
                </a:solidFill>
              </a:defRPr>
            </a:pPr>
            <a:r>
              <a:t>PLATFORM FUNCTIONALITY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Role-Based Access &amp; Feature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HealthVerse — Final Year B.Tech CSE Project | Slide 4 of 11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383280" cy="46634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463040"/>
            <a:ext cx="3383280" cy="64008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8FAFC"/>
                </a:solidFill>
              </a:defRPr>
            </a:pPr>
            <a:r>
              <a:t>👤 Patient Portal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194560"/>
            <a:ext cx="310896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F766E"/>
                </a:solidFill>
              </a:defRPr>
            </a:pPr>
            <a:r>
              <a:t>Discovery, Emergency &amp; Alerts</a:t>
            </a:r>
          </a:p>
          <a:p>
            <a:pPr>
              <a:spcBef>
                <a:spcPts val="600"/>
              </a:spcBef>
              <a:defRPr sz="1000">
                <a:solidFill>
                  <a:srgbClr val="0F172A"/>
                </a:solidFill>
              </a:defRPr>
            </a:pPr>
            <a:r>
              <a:t>• Full-text multi-parameter hospital search &amp; filter</a:t>
            </a:r>
          </a:p>
          <a:p>
            <a:pPr>
              <a:spcBef>
                <a:spcPts val="600"/>
              </a:spcBef>
              <a:defRPr sz="1000">
                <a:solidFill>
                  <a:srgbClr val="0F172A"/>
                </a:solidFill>
              </a:defRPr>
            </a:pPr>
            <a:r>
              <a:t>• Interactive India Leaflet map with live counters</a:t>
            </a:r>
          </a:p>
          <a:p>
            <a:pPr>
              <a:spcBef>
                <a:spcPts val="600"/>
              </a:spcBef>
              <a:defRPr sz="1000">
                <a:solidFill>
                  <a:srgbClr val="0F172A"/>
                </a:solidFill>
              </a:defRPr>
            </a:pPr>
            <a:r>
              <a:t>• Comprehensive hospital telemetry view (/hospitals/:id)</a:t>
            </a:r>
          </a:p>
          <a:p>
            <a:pPr>
              <a:spcBef>
                <a:spcPts val="600"/>
              </a:spcBef>
              <a:defRPr sz="1000">
                <a:solidFill>
                  <a:srgbClr val="0F172A"/>
                </a:solidFill>
              </a:defRPr>
            </a:pPr>
            <a:r>
              <a:t>• Side-by-side hospital comparison engine (/compare)</a:t>
            </a:r>
          </a:p>
          <a:p>
            <a:pPr>
              <a:spcBef>
                <a:spcPts val="600"/>
              </a:spcBef>
              <a:defRPr sz="1000">
                <a:solidFill>
                  <a:srgbClr val="0F172A"/>
                </a:solidFill>
              </a:defRPr>
            </a:pPr>
            <a:r>
              <a:t>• Personal bookmarked favorites list (/favorites)</a:t>
            </a:r>
          </a:p>
          <a:p>
            <a:pPr>
              <a:spcBef>
                <a:spcPts val="600"/>
              </a:spcBef>
              <a:defRPr sz="1000">
                <a:solidFill>
                  <a:srgbClr val="0F172A"/>
                </a:solidFill>
              </a:defRPr>
            </a:pPr>
            <a:r>
              <a:t>• HealthVerse Alerts creation (Blood, ICU, Resources)</a:t>
            </a:r>
          </a:p>
          <a:p>
            <a:pPr>
              <a:spcBef>
                <a:spcPts val="600"/>
              </a:spcBef>
              <a:defRPr sz="1000">
                <a:solidFill>
                  <a:srgbClr val="0F172A"/>
                </a:solidFill>
              </a:defRPr>
            </a:pPr>
            <a:r>
              <a:t>• Notification preferences &amp; email history audit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463040"/>
            <a:ext cx="3383280" cy="46634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89120" y="1463040"/>
            <a:ext cx="3383280" cy="6400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8FAFC"/>
                </a:solidFill>
              </a:defRPr>
            </a:pPr>
            <a:r>
              <a:t>🏥 Hospital Admin Dashboard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26280" y="2194560"/>
            <a:ext cx="310896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Real-Time Resource Telemetry</a:t>
            </a:r>
          </a:p>
          <a:p>
            <a:pPr>
              <a:spcBef>
                <a:spcPts val="600"/>
              </a:spcBef>
              <a:defRPr sz="1000">
                <a:solidFill>
                  <a:srgbClr val="0F172A"/>
                </a:solidFill>
              </a:defRPr>
            </a:pPr>
            <a:r>
              <a:t>• Hospital profile &amp; media management (Banner, Logo)</a:t>
            </a:r>
          </a:p>
          <a:p>
            <a:pPr>
              <a:spcBef>
                <a:spcPts val="600"/>
              </a:spcBef>
              <a:defRPr sz="1000">
                <a:solidFill>
                  <a:srgbClr val="0F172A"/>
                </a:solidFill>
              </a:defRPr>
            </a:pPr>
            <a:r>
              <a:t>• Bed management: Total, Available, ICU, Emergency</a:t>
            </a:r>
          </a:p>
          <a:p>
            <a:pPr>
              <a:spcBef>
                <a:spcPts val="600"/>
              </a:spcBef>
              <a:defRPr sz="1000">
                <a:solidFill>
                  <a:srgbClr val="0F172A"/>
                </a:solidFill>
              </a:defRPr>
            </a:pPr>
            <a:r>
              <a:t>• Equipment &amp; staff: Ventilators, Oxygen, Doctors, Nurses</a:t>
            </a:r>
          </a:p>
          <a:p>
            <a:pPr>
              <a:spcBef>
                <a:spcPts val="600"/>
              </a:spcBef>
              <a:defRPr sz="1000">
                <a:solidFill>
                  <a:srgbClr val="0F172A"/>
                </a:solidFill>
              </a:defRPr>
            </a:pPr>
            <a:r>
              <a:t>• Operational status: Waiting time &amp; Pharmacy toggle</a:t>
            </a:r>
          </a:p>
          <a:p>
            <a:pPr>
              <a:spcBef>
                <a:spcPts val="600"/>
              </a:spcBef>
              <a:defRPr sz="1000">
                <a:solidFill>
                  <a:srgbClr val="0F172A"/>
                </a:solidFill>
              </a:defRPr>
            </a:pPr>
            <a:r>
              <a:t>• Blood bank inventory updates (all 8 blood groups)</a:t>
            </a:r>
          </a:p>
          <a:p>
            <a:pPr>
              <a:spcBef>
                <a:spcPts val="600"/>
              </a:spcBef>
              <a:defRPr sz="1000">
                <a:solidFill>
                  <a:srgbClr val="0F172A"/>
                </a:solidFill>
              </a:defRPr>
            </a:pPr>
            <a:r>
              <a:t>• Ambulance fleet status: Available, En Route, Offline</a:t>
            </a:r>
          </a:p>
          <a:p>
            <a:pPr>
              <a:spcBef>
                <a:spcPts val="600"/>
              </a:spcBef>
              <a:defRPr sz="1000">
                <a:solidFill>
                  <a:srgbClr val="0F172A"/>
                </a:solidFill>
              </a:defRPr>
            </a:pPr>
            <a:r>
              <a:t>• Low-resource threshold email warning settings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463040"/>
            <a:ext cx="3383280" cy="46634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46720" y="1463040"/>
            <a:ext cx="3383280" cy="64008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8FAFC"/>
                </a:solidFill>
              </a:defRPr>
            </a:pPr>
            <a:r>
              <a:t>👑 Super Admin Dashboard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83880" y="2194560"/>
            <a:ext cx="310896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DC2626"/>
                </a:solidFill>
              </a:defRPr>
            </a:pPr>
            <a:r>
              <a:t>Governance &amp; Platform Control</a:t>
            </a:r>
          </a:p>
          <a:p>
            <a:pPr>
              <a:spcBef>
                <a:spcPts val="600"/>
              </a:spcBef>
              <a:defRPr sz="1000">
                <a:solidFill>
                  <a:srgbClr val="0F172A"/>
                </a:solidFill>
              </a:defRPr>
            </a:pPr>
            <a:r>
              <a:t>• Hospital registration verification (Approve / Reject)</a:t>
            </a:r>
          </a:p>
          <a:p>
            <a:pPr>
              <a:spcBef>
                <a:spcPts val="600"/>
              </a:spcBef>
              <a:defRPr sz="1000">
                <a:solidFill>
                  <a:srgbClr val="0F172A"/>
                </a:solidFill>
              </a:defRPr>
            </a:pPr>
            <a:r>
              <a:t>• New hospital creation &amp; admin linking</a:t>
            </a:r>
          </a:p>
          <a:p>
            <a:pPr>
              <a:spcBef>
                <a:spcPts val="600"/>
              </a:spcBef>
              <a:defRPr sz="1000">
                <a:solidFill>
                  <a:srgbClr val="0F172A"/>
                </a:solidFill>
              </a:defRPr>
            </a:pPr>
            <a:r>
              <a:t>• Aggregated platform statistics (Hospitals, Beds, Users)</a:t>
            </a:r>
          </a:p>
          <a:p>
            <a:pPr>
              <a:spcBef>
                <a:spcPts val="600"/>
              </a:spcBef>
              <a:defRPr sz="1000">
                <a:solidFill>
                  <a:srgbClr val="0F172A"/>
                </a:solidFill>
              </a:defRPr>
            </a:pPr>
            <a:r>
              <a:t>• System-wide resource occupancy analytics</a:t>
            </a:r>
          </a:p>
          <a:p>
            <a:pPr>
              <a:spcBef>
                <a:spcPts val="600"/>
              </a:spcBef>
              <a:defRPr sz="1000">
                <a:solidFill>
                  <a:srgbClr val="0F172A"/>
                </a:solidFill>
              </a:defRPr>
            </a:pPr>
            <a:r>
              <a:t>• Real-time audit log of administrative activities</a:t>
            </a:r>
          </a:p>
          <a:p>
            <a:pPr>
              <a:spcBef>
                <a:spcPts val="600"/>
              </a:spcBef>
              <a:defRPr sz="1000">
                <a:solidFill>
                  <a:srgbClr val="0F172A"/>
                </a:solidFill>
              </a:defRPr>
            </a:pPr>
            <a:r>
              <a:t>• Row-Level Security governance across all tenants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F766E"/>
                </a:solidFill>
              </a:defRPr>
            </a:pPr>
            <a:r>
              <a:t>INTERACTIVE MAPPING ENGINE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Geospatial Discovery &amp; India Map Integration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HealthVerse — Final Year B.Tech CSE Project | Slide 5 of 11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120640" cy="47548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766E"/>
                </a:solidFill>
              </a:defRPr>
            </a:pPr>
            <a:r>
              <a:t>🗺️ Map Engine Architecture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• OpenStreetMap + Leaflet Canvas: Lightweight, zero-API-cost mapping framework rendered via React-Leaflet.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• India Geographic Center: Initialized at coordinates [20.5937, 78.9629] with adaptive zoom constraints (5 to 18).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• Database-Driven Coordinates: Dynamic coordinate markers loaded directly from the Supabase PostgreSQL database.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• Verified Hospital Filtering: Enforces is_approved = true so unverified institutions are excluded from public view.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• Interactive Marker Telemetry: Custom popup cards rendering hospital photo, available beds, ICU status, and quick profile link.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371600"/>
            <a:ext cx="5212080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554480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B981"/>
                </a:solidFill>
              </a:defRPr>
            </a:pPr>
            <a:r>
              <a:t>📍 Spatial Query &amp; Rendering Flow</a:t>
            </a:r>
          </a:p>
          <a:p>
            <a:pPr>
              <a:spcBef>
                <a:spcPts val="1000"/>
              </a:spcBef>
              <a:defRPr sz="1100">
                <a:solidFill>
                  <a:srgbClr val="F8FAFC"/>
                </a:solidFill>
              </a:defRPr>
            </a:pPr>
            <a:r>
              <a:t>1. Data Fetching:</a:t>
            </a:r>
            <a:br/>
            <a:r>
              <a:t>Frontend issues selective SQL query: SELECT id, name, latitude, longitude, address, is_approved FROM hospitals</a:t>
            </a:r>
          </a:p>
          <a:p>
            <a:pPr>
              <a:spcBef>
                <a:spcPts val="1000"/>
              </a:spcBef>
              <a:defRPr sz="1100">
                <a:solidFill>
                  <a:srgbClr val="F8FAFC"/>
                </a:solidFill>
              </a:defRPr>
            </a:pPr>
            <a:r>
              <a:t>2. Marker Clustering:</a:t>
            </a:r>
            <a:br/>
            <a:r>
              <a:t>Hospital markers render dynamically on client viewport with custom SVG health badges.</a:t>
            </a:r>
          </a:p>
          <a:p>
            <a:pPr>
              <a:spcBef>
                <a:spcPts val="1000"/>
              </a:spcBef>
              <a:defRPr sz="1100">
                <a:solidFill>
                  <a:srgbClr val="F8FAFC"/>
                </a:solidFill>
              </a:defRPr>
            </a:pPr>
            <a:r>
              <a:t>3. Coordinate Sync:</a:t>
            </a:r>
            <a:br/>
            <a:r>
              <a:t>Hospital Admin updates lat/lng on dashboard -&gt; immediate marker relocation on map view.</a:t>
            </a:r>
          </a:p>
          <a:p>
            <a:pPr>
              <a:spcBef>
                <a:spcPts val="1000"/>
              </a:spcBef>
              <a:defRPr sz="1100">
                <a:solidFill>
                  <a:srgbClr val="F8FAFC"/>
                </a:solidFill>
              </a:defRPr>
            </a:pPr>
            <a:r>
              <a:t>4. Spatial Distance Filter:</a:t>
            </a:r>
            <a:br/>
            <a:r>
              <a:t>Haversine distance formula used to calculate proximity between user location and facilities.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F766E"/>
                </a:solidFill>
              </a:defRPr>
            </a:pPr>
            <a:r>
              <a:t>RESOURCE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Resource Telemetry &amp; 8-Group Blood Bank Inventory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HealthVerse — Final Year B.Tech CSE Project | Slide 6 of 11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10698480" cy="21945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63040"/>
            <a:ext cx="103327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766E"/>
                </a:solidFill>
              </a:defRPr>
            </a:pPr>
            <a:r>
              <a:t>📊 Comprehensive Hospital Resource Tracking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HealthVerse tracks 10+ operational parameters per facility in real time:</a:t>
            </a:r>
          </a:p>
          <a:p>
            <a:pPr>
              <a:spcBef>
                <a:spcPts val="200"/>
              </a:spcBef>
              <a:defRPr sz="1000">
                <a:solidFill>
                  <a:srgbClr val="0F172A"/>
                </a:solidFill>
              </a:defRPr>
            </a:pPr>
            <a:r>
              <a:t>  • 🛏️ Total Beds &amp; Available Beds</a:t>
            </a:r>
          </a:p>
          <a:p>
            <a:pPr>
              <a:spcBef>
                <a:spcPts val="200"/>
              </a:spcBef>
              <a:defRPr sz="1000">
                <a:solidFill>
                  <a:srgbClr val="0F172A"/>
                </a:solidFill>
              </a:defRPr>
            </a:pPr>
            <a:r>
              <a:t>  • 🚨 ICU Beds &amp; Emergency Beds</a:t>
            </a:r>
          </a:p>
          <a:p>
            <a:pPr>
              <a:spcBef>
                <a:spcPts val="200"/>
              </a:spcBef>
              <a:defRPr sz="1000">
                <a:solidFill>
                  <a:srgbClr val="0F172A"/>
                </a:solidFill>
              </a:defRPr>
            </a:pPr>
            <a:r>
              <a:t>  • 💨 Ventilators &amp; Oxygen Cylinders</a:t>
            </a:r>
          </a:p>
          <a:p>
            <a:pPr>
              <a:spcBef>
                <a:spcPts val="200"/>
              </a:spcBef>
              <a:defRPr sz="1000">
                <a:solidFill>
                  <a:srgbClr val="0F172A"/>
                </a:solidFill>
              </a:defRPr>
            </a:pPr>
            <a:r>
              <a:t>  • 👨‍⚕️ Available Doctors &amp; On-Duty Nurses</a:t>
            </a:r>
          </a:p>
          <a:p>
            <a:pPr>
              <a:spcBef>
                <a:spcPts val="200"/>
              </a:spcBef>
              <a:defRPr sz="1000">
                <a:solidFill>
                  <a:srgbClr val="0F172A"/>
                </a:solidFill>
              </a:defRPr>
            </a:pPr>
            <a:r>
              <a:t>  • ⏱️ Average Waiting Time (Minutes)</a:t>
            </a:r>
          </a:p>
          <a:p>
            <a:pPr>
              <a:spcBef>
                <a:spcPts val="200"/>
              </a:spcBef>
              <a:defRPr sz="1000">
                <a:solidFill>
                  <a:srgbClr val="0F172A"/>
                </a:solidFill>
              </a:defRPr>
            </a:pPr>
            <a:r>
              <a:t>  • 💊 24/7 Pharmacy Status &amp; Operating Hours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749039"/>
            <a:ext cx="10698480" cy="237744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840480"/>
            <a:ext cx="10332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DC2626"/>
                </a:solidFill>
              </a:defRPr>
            </a:pPr>
            <a:r>
              <a:t>🩸 Full 8-Group Blood Bank Inventory Matrix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Managed with database upserts on UNIQUE(hospital_id, blood_group):</a:t>
            </a:r>
          </a:p>
          <a:p>
            <a:pPr>
              <a:spcBef>
                <a:spcPts val="200"/>
              </a:spcBef>
              <a:defRPr sz="1000">
                <a:solidFill>
                  <a:srgbClr val="0F172A"/>
                </a:solidFill>
              </a:defRPr>
            </a:pPr>
            <a:r>
              <a:t>  • A+ (A Positive) | A- (A Negative)</a:t>
            </a:r>
          </a:p>
          <a:p>
            <a:pPr>
              <a:spcBef>
                <a:spcPts val="200"/>
              </a:spcBef>
              <a:defRPr sz="1000">
                <a:solidFill>
                  <a:srgbClr val="0F172A"/>
                </a:solidFill>
              </a:defRPr>
            </a:pPr>
            <a:r>
              <a:t>  • B+ (B Positive) | B- (B Negative)</a:t>
            </a:r>
          </a:p>
          <a:p>
            <a:pPr>
              <a:spcBef>
                <a:spcPts val="200"/>
              </a:spcBef>
              <a:defRPr sz="1000">
                <a:solidFill>
                  <a:srgbClr val="0F172A"/>
                </a:solidFill>
              </a:defRPr>
            </a:pPr>
            <a:r>
              <a:t>  • AB+ (Universal Recipient) | AB- (AB Negative)</a:t>
            </a:r>
          </a:p>
          <a:p>
            <a:pPr>
              <a:spcBef>
                <a:spcPts val="200"/>
              </a:spcBef>
              <a:defRPr sz="1000">
                <a:solidFill>
                  <a:srgbClr val="0F172A"/>
                </a:solidFill>
              </a:defRPr>
            </a:pPr>
            <a:r>
              <a:t>  • O+ (Common Donor) | O- (Universal Donor)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F766E"/>
                </a:solidFill>
              </a:defRPr>
            </a:pPr>
            <a:r>
              <a:t>AUTOMATED TRIAGE ALERTS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HealthVerse Alerts: Smart Email Notification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HealthVerse — Final Year B.Tech CSE Project | Slide 7 of 11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2468880" cy="47548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2468880" cy="54864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8FAFC"/>
                </a:solidFill>
              </a:defRPr>
            </a:pPr>
            <a:r>
              <a:t>🩸 Blood Availability Alert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011680"/>
            <a:ext cx="22860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DC2626"/>
                </a:solidFill>
              </a:defRPr>
            </a:pPr>
            <a:r>
              <a:t>Patient Notification</a:t>
            </a:r>
          </a:p>
          <a:p>
            <a:pPr>
              <a:spcBef>
                <a:spcPts val="500"/>
              </a:spcBef>
              <a:defRPr sz="950">
                <a:solidFill>
                  <a:srgbClr val="0F172A"/>
                </a:solidFill>
              </a:defRPr>
            </a:pPr>
            <a:r>
              <a:t>• Trigger: Hospital updates stock &gt; 0 units</a:t>
            </a:r>
          </a:p>
          <a:p>
            <a:pPr>
              <a:spcBef>
                <a:spcPts val="500"/>
              </a:spcBef>
              <a:defRPr sz="950">
                <a:solidFill>
                  <a:srgbClr val="0F172A"/>
                </a:solidFill>
              </a:defRPr>
            </a:pPr>
            <a:r>
              <a:t>• Subject: 🩸 [Group] Blood Availability Alert</a:t>
            </a:r>
          </a:p>
          <a:p>
            <a:pPr>
              <a:spcBef>
                <a:spcPts val="500"/>
              </a:spcBef>
              <a:defRPr sz="950">
                <a:solidFill>
                  <a:srgbClr val="0F172A"/>
                </a:solidFill>
              </a:defRPr>
            </a:pPr>
            <a:r>
              <a:t>• Radius: 5 KM, 10 KM, 25 KM, 50 KM</a:t>
            </a:r>
          </a:p>
          <a:p>
            <a:pPr>
              <a:spcBef>
                <a:spcPts val="500"/>
              </a:spcBef>
              <a:defRPr sz="950">
                <a:solidFill>
                  <a:srgbClr val="0F172A"/>
                </a:solidFill>
              </a:defRPr>
            </a:pPr>
            <a:r>
              <a:t>• Includes units, address &amp; direct profile link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1371600"/>
            <a:ext cx="2468880" cy="47548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474720" y="1371600"/>
            <a:ext cx="2468880" cy="5486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8FAFC"/>
                </a:solidFill>
              </a:defRPr>
            </a:pPr>
            <a:r>
              <a:t>🚨 ICU Bed Opening Alert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0" y="2011680"/>
            <a:ext cx="22860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Critical Patient Alert</a:t>
            </a:r>
          </a:p>
          <a:p>
            <a:pPr>
              <a:spcBef>
                <a:spcPts val="500"/>
              </a:spcBef>
              <a:defRPr sz="950">
                <a:solidFill>
                  <a:srgbClr val="0F172A"/>
                </a:solidFill>
              </a:defRPr>
            </a:pPr>
            <a:r>
              <a:t>• Trigger: ICU beds transition 0 -&gt; 1+</a:t>
            </a:r>
          </a:p>
          <a:p>
            <a:pPr>
              <a:spcBef>
                <a:spcPts val="500"/>
              </a:spcBef>
              <a:defRPr sz="950">
                <a:solidFill>
                  <a:srgbClr val="0F172A"/>
                </a:solidFill>
              </a:defRPr>
            </a:pPr>
            <a:r>
              <a:t>• Subject: 🚨 ICU Bed Availability Alert</a:t>
            </a:r>
          </a:p>
          <a:p>
            <a:pPr>
              <a:spcBef>
                <a:spcPts val="500"/>
              </a:spcBef>
              <a:defRPr sz="950">
                <a:solidFill>
                  <a:srgbClr val="0F172A"/>
                </a:solidFill>
              </a:defRPr>
            </a:pPr>
            <a:r>
              <a:t>• Instant notification for nearby subscribers</a:t>
            </a:r>
          </a:p>
          <a:p>
            <a:pPr>
              <a:spcBef>
                <a:spcPts val="500"/>
              </a:spcBef>
              <a:defRPr sz="950">
                <a:solidFill>
                  <a:srgbClr val="0F172A"/>
                </a:solidFill>
              </a:defRPr>
            </a:pPr>
            <a:r>
              <a:t>• Direct link to hospital emergency desk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371600"/>
            <a:ext cx="2468880" cy="47548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371600"/>
            <a:ext cx="2468880" cy="5486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8FAFC"/>
                </a:solidFill>
              </a:defRPr>
            </a:pPr>
            <a:r>
              <a:t>⚠️ Low Resource Warning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2011680"/>
            <a:ext cx="22860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D97706"/>
                </a:solidFill>
              </a:defRPr>
            </a:pPr>
            <a:r>
              <a:t>Hospital Admin Alert</a:t>
            </a:r>
          </a:p>
          <a:p>
            <a:pPr>
              <a:spcBef>
                <a:spcPts val="500"/>
              </a:spcBef>
              <a:defRPr sz="950">
                <a:solidFill>
                  <a:srgbClr val="0F172A"/>
                </a:solidFill>
              </a:defRPr>
            </a:pPr>
            <a:r>
              <a:t>• Trigger: Resources drop &lt;= configured threshold</a:t>
            </a:r>
          </a:p>
          <a:p>
            <a:pPr>
              <a:spcBef>
                <a:spcPts val="500"/>
              </a:spcBef>
              <a:defRPr sz="950">
                <a:solidFill>
                  <a:srgbClr val="0F172A"/>
                </a:solidFill>
              </a:defRPr>
            </a:pPr>
            <a:r>
              <a:t>• Subject: ⚠️ Low ICU Availability</a:t>
            </a:r>
          </a:p>
          <a:p>
            <a:pPr>
              <a:spcBef>
                <a:spcPts val="500"/>
              </a:spcBef>
              <a:defRPr sz="950">
                <a:solidFill>
                  <a:srgbClr val="0F172A"/>
                </a:solidFill>
              </a:defRPr>
            </a:pPr>
            <a:r>
              <a:t>• Proactive alert to hospital administrator</a:t>
            </a:r>
          </a:p>
          <a:p>
            <a:pPr>
              <a:spcBef>
                <a:spcPts val="500"/>
              </a:spcBef>
              <a:defRPr sz="950">
                <a:solidFill>
                  <a:srgbClr val="0F172A"/>
                </a:solidFill>
              </a:defRPr>
            </a:pPr>
            <a:r>
              <a:t>• Prevents sudden stockouts of critical care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61120" y="1371600"/>
            <a:ext cx="2468880" cy="47548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961120" y="1371600"/>
            <a:ext cx="2468880" cy="548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8FAFC"/>
                </a:solidFill>
              </a:defRPr>
            </a:pPr>
            <a:r>
              <a:t>✅ Hospital Approval Email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0" y="2011680"/>
            <a:ext cx="22860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0B981"/>
                </a:solidFill>
              </a:defRPr>
            </a:pPr>
            <a:r>
              <a:t>Governance Trigger</a:t>
            </a:r>
          </a:p>
          <a:p>
            <a:pPr>
              <a:spcBef>
                <a:spcPts val="500"/>
              </a:spcBef>
              <a:defRPr sz="950">
                <a:solidFill>
                  <a:srgbClr val="0F172A"/>
                </a:solidFill>
              </a:defRPr>
            </a:pPr>
            <a:r>
              <a:t>• Trigger: Super Admin approves registration</a:t>
            </a:r>
          </a:p>
          <a:p>
            <a:pPr>
              <a:spcBef>
                <a:spcPts val="500"/>
              </a:spcBef>
              <a:defRPr sz="950">
                <a:solidFill>
                  <a:srgbClr val="0F172A"/>
                </a:solidFill>
              </a:defRPr>
            </a:pPr>
            <a:r>
              <a:t>• Subject: ✅ Your Hospital Has Been Approved</a:t>
            </a:r>
          </a:p>
          <a:p>
            <a:pPr>
              <a:spcBef>
                <a:spcPts val="500"/>
              </a:spcBef>
              <a:defRPr sz="950">
                <a:solidFill>
                  <a:srgbClr val="0F172A"/>
                </a:solidFill>
              </a:defRPr>
            </a:pPr>
            <a:r>
              <a:t>• Sent directly to hospital contact email</a:t>
            </a:r>
          </a:p>
          <a:p>
            <a:pPr>
              <a:spcBef>
                <a:spcPts val="500"/>
              </a:spcBef>
              <a:defRPr sz="950">
                <a:solidFill>
                  <a:srgbClr val="0F172A"/>
                </a:solidFill>
              </a:defRPr>
            </a:pPr>
            <a:r>
              <a:t>• Confirms live status on public map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F766E"/>
                </a:solidFill>
              </a:defRPr>
            </a:pPr>
            <a:r>
              <a:t>DATA &amp; SECURITY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Database Architecture &amp; Row Level Security (RLS)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HealthVerse — Final Year B.Tech CSE Project | Slide 8 of 11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120640" cy="47548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766E"/>
                </a:solidFill>
              </a:defRPr>
            </a:pPr>
            <a:r>
              <a:t>🗄️ Relational PostgreSQL Tables</a:t>
            </a:r>
          </a:p>
          <a:p>
            <a:pPr>
              <a:spcBef>
                <a:spcPts val="400"/>
              </a:spcBef>
              <a:defRPr sz="950">
                <a:solidFill>
                  <a:srgbClr val="0F172A"/>
                </a:solidFill>
              </a:defRPr>
            </a:pPr>
            <a:r>
              <a:t>• hospitals: id (PK), name, lat, lng, address, is_approved, admin_id, media</a:t>
            </a:r>
          </a:p>
          <a:p>
            <a:pPr>
              <a:spcBef>
                <a:spcPts val="400"/>
              </a:spcBef>
              <a:defRPr sz="950">
                <a:solidFill>
                  <a:srgbClr val="0F172A"/>
                </a:solidFill>
              </a:defRPr>
            </a:pPr>
            <a:r>
              <a:t>• hospital_resources: hospital_id (FK), total/available/icu beds, staff, oxygen</a:t>
            </a:r>
          </a:p>
          <a:p>
            <a:pPr>
              <a:spcBef>
                <a:spcPts val="400"/>
              </a:spcBef>
              <a:defRPr sz="950">
                <a:solidFill>
                  <a:srgbClr val="0F172A"/>
                </a:solidFill>
              </a:defRPr>
            </a:pPr>
            <a:r>
              <a:t>• blood_inventory: hospital_id (FK), blood_group, units_available, updated_at</a:t>
            </a:r>
          </a:p>
          <a:p>
            <a:pPr>
              <a:spcBef>
                <a:spcPts val="400"/>
              </a:spcBef>
              <a:defRPr sz="950">
                <a:solidFill>
                  <a:srgbClr val="0F172A"/>
                </a:solidFill>
              </a:defRPr>
            </a:pPr>
            <a:r>
              <a:t>• ambulances: hospital_id (FK), vehicle_number, status, contact_number</a:t>
            </a:r>
          </a:p>
          <a:p>
            <a:pPr>
              <a:spcBef>
                <a:spcPts val="400"/>
              </a:spcBef>
              <a:defRPr sz="950">
                <a:solidFill>
                  <a:srgbClr val="0F172A"/>
                </a:solidFill>
              </a:defRPr>
            </a:pPr>
            <a:r>
              <a:t>• health_alerts: user_id, alert_type, blood_group, radius_km, email, is_active</a:t>
            </a:r>
          </a:p>
          <a:p>
            <a:pPr>
              <a:spcBef>
                <a:spcPts val="400"/>
              </a:spcBef>
              <a:defRPr sz="950">
                <a:solidFill>
                  <a:srgbClr val="0F172A"/>
                </a:solidFill>
              </a:defRPr>
            </a:pPr>
            <a:r>
              <a:t>• email_notifications: recipient_email, subject, status (sent/failed), sent_at</a:t>
            </a:r>
          </a:p>
          <a:p>
            <a:pPr>
              <a:spcBef>
                <a:spcPts val="400"/>
              </a:spcBef>
              <a:defRPr sz="950">
                <a:solidFill>
                  <a:srgbClr val="0F172A"/>
                </a:solidFill>
              </a:defRPr>
            </a:pPr>
            <a:r>
              <a:t>• activity_logs: user_id, action, timestamp (Super Admin audit trail)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371600"/>
            <a:ext cx="5212080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554480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B981"/>
                </a:solidFill>
              </a:defRPr>
            </a:pPr>
            <a:r>
              <a:t>🔒 Security Policies &amp; RLS Rules</a:t>
            </a:r>
          </a:p>
          <a:p>
            <a:pPr>
              <a:spcBef>
                <a:spcPts val="600"/>
              </a:spcBef>
              <a:defRPr sz="1000">
                <a:solidFill>
                  <a:srgbClr val="F8FAFC"/>
                </a:solidFill>
              </a:defRPr>
            </a:pPr>
            <a:r>
              <a:t>• Row Level Security (RLS): PostgreSQL rules reject unauthorized writes at the database layer.</a:t>
            </a:r>
          </a:p>
          <a:p>
            <a:pPr>
              <a:spcBef>
                <a:spcPts val="600"/>
              </a:spcBef>
              <a:defRPr sz="1000">
                <a:solidFill>
                  <a:srgbClr val="F8FAFC"/>
                </a:solidFill>
              </a:defRPr>
            </a:pPr>
            <a:r>
              <a:t>• Public Read Policy: Public patients can only query hospitals where is_approved = true.</a:t>
            </a:r>
          </a:p>
          <a:p>
            <a:pPr>
              <a:spcBef>
                <a:spcPts val="600"/>
              </a:spcBef>
              <a:defRPr sz="1000">
                <a:solidFill>
                  <a:srgbClr val="F8FAFC"/>
                </a:solidFill>
              </a:defRPr>
            </a:pPr>
            <a:r>
              <a:t>• Hospital Admin Scoping: Hospital Admins can strictly update resources where admin_id = auth.uid().</a:t>
            </a:r>
          </a:p>
          <a:p>
            <a:pPr>
              <a:spcBef>
                <a:spcPts val="600"/>
              </a:spcBef>
              <a:defRPr sz="1000">
                <a:solidFill>
                  <a:srgbClr val="F8FAFC"/>
                </a:solidFill>
              </a:defRPr>
            </a:pPr>
            <a:r>
              <a:t>• Super Admin Privileges: Super Admins hold full governance &amp; verification access.</a:t>
            </a:r>
          </a:p>
          <a:p>
            <a:pPr>
              <a:spcBef>
                <a:spcPts val="600"/>
              </a:spcBef>
              <a:defRPr sz="1000">
                <a:solidFill>
                  <a:srgbClr val="F8FAFC"/>
                </a:solidFill>
              </a:defRPr>
            </a:pPr>
            <a:r>
              <a:t>• Zero Secret Exposure: RESEND_API_KEY and service-role secrets isolated strictly to FastAPI backend server.</a:t>
            </a:r>
          </a:p>
          <a:p>
            <a:pPr>
              <a:spcBef>
                <a:spcPts val="600"/>
              </a:spcBef>
              <a:defRPr sz="1000">
                <a:solidFill>
                  <a:srgbClr val="F8FAFC"/>
                </a:solidFill>
              </a:defRPr>
            </a:pPr>
            <a:r>
              <a:t>• Spam Cooldown: Enforces minimum 1-hour interval (last_triggered_at) per subscriber alert.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F766E"/>
                </a:solidFill>
              </a:defRPr>
            </a:pPr>
            <a:r>
              <a:t>TECHNICAL SPECIFICATIONS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Technology Stack &amp; Frameworks Used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HealthVerse — Final Year B.Tech CSE Project | Slide 9 of 11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3383280" cy="47548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3383280" cy="5486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8FAFC"/>
                </a:solidFill>
              </a:defRPr>
            </a:pPr>
            <a:r>
              <a:t>Frontend Application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011680"/>
            <a:ext cx="31089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400"/>
              </a:spcBef>
              <a:defRPr sz="950">
                <a:solidFill>
                  <a:srgbClr val="0F172A"/>
                </a:solidFill>
              </a:defRPr>
            </a:pPr>
            <a:r>
              <a:t>• React 19 (Component-based architecture)</a:t>
            </a:r>
          </a:p>
          <a:p>
            <a:pPr>
              <a:spcBef>
                <a:spcPts val="400"/>
              </a:spcBef>
              <a:defRPr sz="950">
                <a:solidFill>
                  <a:srgbClr val="0F172A"/>
                </a:solidFill>
              </a:defRPr>
            </a:pPr>
            <a:r>
              <a:t>• TypeScript 6 (Strict end-to-end typing)</a:t>
            </a:r>
          </a:p>
          <a:p>
            <a:pPr>
              <a:spcBef>
                <a:spcPts val="400"/>
              </a:spcBef>
              <a:defRPr sz="950">
                <a:solidFill>
                  <a:srgbClr val="0F172A"/>
                </a:solidFill>
              </a:defRPr>
            </a:pPr>
            <a:r>
              <a:t>• Vite 8 (High-speed build tool &amp; dev server)</a:t>
            </a:r>
          </a:p>
          <a:p>
            <a:pPr>
              <a:spcBef>
                <a:spcPts val="400"/>
              </a:spcBef>
              <a:defRPr sz="950">
                <a:solidFill>
                  <a:srgbClr val="0F172A"/>
                </a:solidFill>
              </a:defRPr>
            </a:pPr>
            <a:r>
              <a:t>• Tailwind CSS 4 (Custom medical styling)</a:t>
            </a:r>
          </a:p>
          <a:p>
            <a:pPr>
              <a:spcBef>
                <a:spcPts val="400"/>
              </a:spcBef>
              <a:defRPr sz="950">
                <a:solidFill>
                  <a:srgbClr val="0F172A"/>
                </a:solidFill>
              </a:defRPr>
            </a:pPr>
            <a:r>
              <a:t>• React Router 7 (Client SPA routing &amp; guards)</a:t>
            </a:r>
          </a:p>
          <a:p>
            <a:pPr>
              <a:spcBef>
                <a:spcPts val="400"/>
              </a:spcBef>
              <a:defRPr sz="950">
                <a:solidFill>
                  <a:srgbClr val="0F172A"/>
                </a:solidFill>
              </a:defRPr>
            </a:pPr>
            <a:r>
              <a:t>• TanStack React Query 5 (Server state caching)</a:t>
            </a:r>
          </a:p>
          <a:p>
            <a:pPr>
              <a:spcBef>
                <a:spcPts val="400"/>
              </a:spcBef>
              <a:defRPr sz="950">
                <a:solidFill>
                  <a:srgbClr val="0F172A"/>
                </a:solidFill>
              </a:defRPr>
            </a:pPr>
            <a:r>
              <a:t>• Leaflet &amp; React-Leaflet (Mapping engine)</a:t>
            </a:r>
          </a:p>
          <a:p>
            <a:pPr>
              <a:spcBef>
                <a:spcPts val="400"/>
              </a:spcBef>
              <a:defRPr sz="950">
                <a:solidFill>
                  <a:srgbClr val="0F172A"/>
                </a:solidFill>
              </a:defRPr>
            </a:pPr>
            <a:r>
              <a:t>• Radix UI Primitives (Accessible UI components)</a:t>
            </a:r>
          </a:p>
          <a:p>
            <a:pPr>
              <a:spcBef>
                <a:spcPts val="400"/>
              </a:spcBef>
              <a:defRPr sz="950">
                <a:solidFill>
                  <a:srgbClr val="0F172A"/>
                </a:solidFill>
              </a:defRPr>
            </a:pPr>
            <a:r>
              <a:t>• Lucide React (Modern iconography)</a:t>
            </a:r>
          </a:p>
          <a:p>
            <a:pPr>
              <a:spcBef>
                <a:spcPts val="400"/>
              </a:spcBef>
              <a:defRPr sz="950">
                <a:solidFill>
                  <a:srgbClr val="0F172A"/>
                </a:solidFill>
              </a:defRPr>
            </a:pPr>
            <a:r>
              <a:t>• Framer Motion (Micro-interactions)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371600"/>
            <a:ext cx="3383280" cy="47548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89120" y="1371600"/>
            <a:ext cx="3383280" cy="5486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8FAFC"/>
                </a:solidFill>
              </a:defRPr>
            </a:pPr>
            <a:r>
              <a:t>Backend &amp; Microservices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26280" y="2011680"/>
            <a:ext cx="31089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400"/>
              </a:spcBef>
              <a:defRPr sz="950">
                <a:solidFill>
                  <a:srgbClr val="0F172A"/>
                </a:solidFill>
              </a:defRPr>
            </a:pPr>
            <a:r>
              <a:t>• FastAPI (High performance Python 3.11)</a:t>
            </a:r>
          </a:p>
          <a:p>
            <a:pPr>
              <a:spcBef>
                <a:spcPts val="400"/>
              </a:spcBef>
              <a:defRPr sz="950">
                <a:solidFill>
                  <a:srgbClr val="0F172A"/>
                </a:solidFill>
              </a:defRPr>
            </a:pPr>
            <a:r>
              <a:t>• Uvicorn (Lightning-fast ASGI web server)</a:t>
            </a:r>
          </a:p>
          <a:p>
            <a:pPr>
              <a:spcBef>
                <a:spcPts val="400"/>
              </a:spcBef>
              <a:defRPr sz="950">
                <a:solidFill>
                  <a:srgbClr val="0F172A"/>
                </a:solidFill>
              </a:defRPr>
            </a:pPr>
            <a:r>
              <a:t>• Pydantic v2 (Strict data models &amp; validation)</a:t>
            </a:r>
          </a:p>
          <a:p>
            <a:pPr>
              <a:spcBef>
                <a:spcPts val="400"/>
              </a:spcBef>
              <a:defRPr sz="950">
                <a:solidFill>
                  <a:srgbClr val="0F172A"/>
                </a:solidFill>
              </a:defRPr>
            </a:pPr>
            <a:r>
              <a:t>• HTTPX (Async HTTP client for Resend API)</a:t>
            </a:r>
          </a:p>
          <a:p>
            <a:pPr>
              <a:spcBef>
                <a:spcPts val="400"/>
              </a:spcBef>
              <a:defRPr sz="950">
                <a:solidFill>
                  <a:srgbClr val="0F172A"/>
                </a:solidFill>
              </a:defRPr>
            </a:pPr>
            <a:r>
              <a:t>• Resend Email API (Cloud email delivery)</a:t>
            </a:r>
          </a:p>
          <a:p>
            <a:pPr>
              <a:spcBef>
                <a:spcPts val="400"/>
              </a:spcBef>
              <a:defRPr sz="950">
                <a:solidFill>
                  <a:srgbClr val="0F172A"/>
                </a:solidFill>
              </a:defRPr>
            </a:pPr>
            <a:r>
              <a:t>• Haversine Math (Geographic distance engine)</a:t>
            </a:r>
          </a:p>
          <a:p>
            <a:pPr>
              <a:spcBef>
                <a:spcPts val="400"/>
              </a:spcBef>
              <a:defRPr sz="950">
                <a:solidFill>
                  <a:srgbClr val="0F172A"/>
                </a:solidFill>
              </a:defRPr>
            </a:pPr>
            <a:r>
              <a:t>• Modular Routers (Alerts, Hospitals, Search)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371600"/>
            <a:ext cx="3383280" cy="47548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46720" y="1371600"/>
            <a:ext cx="3383280" cy="5486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8FAFC"/>
                </a:solidFill>
              </a:defRPr>
            </a:pPr>
            <a:r>
              <a:t>Database &amp; DevOps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83880" y="2011680"/>
            <a:ext cx="31089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400"/>
              </a:spcBef>
              <a:defRPr sz="950">
                <a:solidFill>
                  <a:srgbClr val="0F172A"/>
                </a:solidFill>
              </a:defRPr>
            </a:pPr>
            <a:r>
              <a:t>• Supabase Cloud (Managed PostgreSQL 15)</a:t>
            </a:r>
          </a:p>
          <a:p>
            <a:pPr>
              <a:spcBef>
                <a:spcPts val="400"/>
              </a:spcBef>
              <a:defRPr sz="950">
                <a:solidFill>
                  <a:srgbClr val="0F172A"/>
                </a:solidFill>
              </a:defRPr>
            </a:pPr>
            <a:r>
              <a:t>• PostgREST (Auto-generated REST APIs)</a:t>
            </a:r>
          </a:p>
          <a:p>
            <a:pPr>
              <a:spcBef>
                <a:spcPts val="400"/>
              </a:spcBef>
              <a:defRPr sz="950">
                <a:solidFill>
                  <a:srgbClr val="0F172A"/>
                </a:solidFill>
              </a:defRPr>
            </a:pPr>
            <a:r>
              <a:t>• GoTrue Auth (Secure JWT session tokens)</a:t>
            </a:r>
          </a:p>
          <a:p>
            <a:pPr>
              <a:spcBef>
                <a:spcPts val="400"/>
              </a:spcBef>
              <a:defRPr sz="950">
                <a:solidFill>
                  <a:srgbClr val="0F172A"/>
                </a:solidFill>
              </a:defRPr>
            </a:pPr>
            <a:r>
              <a:t>• Row Level Security (Database engine guards)</a:t>
            </a:r>
          </a:p>
          <a:p>
            <a:pPr>
              <a:spcBef>
                <a:spcPts val="400"/>
              </a:spcBef>
              <a:defRPr sz="950">
                <a:solidFill>
                  <a:srgbClr val="0F172A"/>
                </a:solidFill>
              </a:defRPr>
            </a:pPr>
            <a:r>
              <a:t>• Supabase Object Storage (Media buckets)</a:t>
            </a:r>
          </a:p>
          <a:p>
            <a:pPr>
              <a:spcBef>
                <a:spcPts val="400"/>
              </a:spcBef>
              <a:defRPr sz="950">
                <a:solidFill>
                  <a:srgbClr val="0F172A"/>
                </a:solidFill>
              </a:defRPr>
            </a:pPr>
            <a:r>
              <a:t>• Git &amp; GitHub (Version control &amp; CI/CD)</a:t>
            </a:r>
          </a:p>
          <a:p>
            <a:pPr>
              <a:spcBef>
                <a:spcPts val="400"/>
              </a:spcBef>
              <a:defRPr sz="950">
                <a:solidFill>
                  <a:srgbClr val="0F172A"/>
                </a:solidFill>
              </a:defRPr>
            </a:pPr>
            <a:r>
              <a:t>• Local Fallback Cache (Offline store support)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F766E"/>
                </a:solidFill>
              </a:defRPr>
            </a:pPr>
            <a:r>
              <a:t>QUALITY ASSURANCE &amp;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Verification Audit &amp; Future Enhancements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HealthVerse — Final Year B.Tech CSE Project | Slide 10 of 11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120640" cy="475488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B981"/>
                </a:solidFill>
              </a:defRPr>
            </a:pPr>
            <a:r>
              <a:t>🧪 Verification &amp; Audit Results</a:t>
            </a:r>
          </a:p>
          <a:p>
            <a:pPr>
              <a:spcBef>
                <a:spcPts val="600"/>
              </a:spcBef>
              <a:defRPr sz="1000">
                <a:solidFill>
                  <a:srgbClr val="0F172A"/>
                </a:solidFill>
              </a:defRPr>
            </a:pPr>
            <a:r>
              <a:t>✔ TypeScript Build Verification: npm run build passed with Exit Code 0 and zero compilation errors.</a:t>
            </a:r>
          </a:p>
          <a:p>
            <a:pPr>
              <a:spcBef>
                <a:spcPts val="600"/>
              </a:spcBef>
              <a:defRPr sz="1000">
                <a:solidFill>
                  <a:srgbClr val="0F172A"/>
                </a:solidFill>
              </a:defRPr>
            </a:pPr>
            <a:r>
              <a:t>✔ Super Admin Approval Flow: Verified hospital approval toggles and admin linking in live Supabase database.</a:t>
            </a:r>
          </a:p>
          <a:p>
            <a:pPr>
              <a:spcBef>
                <a:spcPts val="600"/>
              </a:spcBef>
              <a:defRPr sz="1000">
                <a:solidFill>
                  <a:srgbClr val="0F172A"/>
                </a:solidFill>
              </a:defRPr>
            </a:pPr>
            <a:r>
              <a:t>✔ Hospital Resource Upserting: Verified live persistence for beds, ICU, doctors, and 8 blood groups.</a:t>
            </a:r>
          </a:p>
          <a:p>
            <a:pPr>
              <a:spcBef>
                <a:spcPts val="600"/>
              </a:spcBef>
              <a:defRPr sz="1000">
                <a:solidFill>
                  <a:srgbClr val="0F172A"/>
                </a:solidFill>
              </a:defRPr>
            </a:pPr>
            <a:r>
              <a:t>✔ India Map Marker Rendering: Verified dynamic rendering of coordinates and responsive popups.</a:t>
            </a:r>
          </a:p>
          <a:p>
            <a:pPr>
              <a:spcBef>
                <a:spcPts val="600"/>
              </a:spcBef>
              <a:defRPr sz="1000">
                <a:solidFill>
                  <a:srgbClr val="0F172A"/>
                </a:solidFill>
              </a:defRPr>
            </a:pPr>
            <a:r>
              <a:t>✔ Transactional Email Delivery: Verified live email dispatch via Resend API (HTTP 200 OK).</a:t>
            </a:r>
          </a:p>
          <a:p>
            <a:pPr>
              <a:spcBef>
                <a:spcPts val="600"/>
              </a:spcBef>
              <a:defRPr sz="1000">
                <a:solidFill>
                  <a:srgbClr val="0F172A"/>
                </a:solidFill>
              </a:defRPr>
            </a:pPr>
            <a:r>
              <a:t>✔ RLS &amp; Security Audit: Confirmed zero secret leakage in client bundles and strict RLS policy enforcement.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371600"/>
            <a:ext cx="5212080" cy="47548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554480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766E"/>
                </a:solidFill>
              </a:defRPr>
            </a:pPr>
            <a:r>
              <a:t>🚀 Future Scope &amp; Roadmap</a:t>
            </a:r>
          </a:p>
          <a:p>
            <a:pPr>
              <a:spcBef>
                <a:spcPts val="600"/>
              </a:spcBef>
              <a:defRPr sz="1000">
                <a:solidFill>
                  <a:srgbClr val="0F172A"/>
                </a:solidFill>
              </a:defRPr>
            </a:pPr>
            <a:r>
              <a:t>• Real-Time WebSockets: Sub-second bed occupancy synchronization using Supabase Realtime channels.</a:t>
            </a:r>
          </a:p>
          <a:p>
            <a:pPr>
              <a:spcBef>
                <a:spcPts val="600"/>
              </a:spcBef>
              <a:defRPr sz="1000">
                <a:solidFill>
                  <a:srgbClr val="0F172A"/>
                </a:solidFill>
              </a:defRPr>
            </a:pPr>
            <a:r>
              <a:t>• Live GPS Ambulance Tracking: Interactive vehicle telemetry tracking ambulance location en route to patients.</a:t>
            </a:r>
          </a:p>
          <a:p>
            <a:pPr>
              <a:spcBef>
                <a:spcPts val="600"/>
              </a:spcBef>
              <a:defRPr sz="1000">
                <a:solidFill>
                  <a:srgbClr val="0F172A"/>
                </a:solidFill>
              </a:defRPr>
            </a:pPr>
            <a:r>
              <a:t>• Doctor Appointment Scheduling: Integrated outpatient department (OPD) slot booking and digital token generation.</a:t>
            </a:r>
          </a:p>
          <a:p>
            <a:pPr>
              <a:spcBef>
                <a:spcPts val="600"/>
              </a:spcBef>
              <a:defRPr sz="1000">
                <a:solidFill>
                  <a:srgbClr val="0F172A"/>
                </a:solidFill>
              </a:defRPr>
            </a:pPr>
            <a:r>
              <a:t>• AI-Assisted Emergency Triage: Machine learning model routing critical patients based on traffic, distance, and ICU capacity.</a:t>
            </a:r>
          </a:p>
          <a:p>
            <a:pPr>
              <a:spcBef>
                <a:spcPts val="600"/>
              </a:spcBef>
              <a:defRPr sz="1000">
                <a:solidFill>
                  <a:srgbClr val="0F172A"/>
                </a:solidFill>
              </a:defRPr>
            </a:pPr>
            <a:r>
              <a:t>• Regional Indian Languages: Multilingual localization supporting Telugu, Hindi, Tamil, Kannada, and Bengali.</a:t>
            </a:r>
          </a:p>
          <a:p>
            <a:pPr>
              <a:spcBef>
                <a:spcPts val="600"/>
              </a:spcBef>
              <a:defRPr sz="1000">
                <a:solidFill>
                  <a:srgbClr val="0F172A"/>
                </a:solidFill>
              </a:defRPr>
            </a:pPr>
            <a:r>
              <a:t>• Cross-Platform Mobile App: React Native companion application for Android and iOS.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8FAFC"/>
                </a:solidFill>
              </a:defRPr>
            </a:pPr>
            <a:r>
              <a:t>Conclusion &amp; Demonstration</a:t>
            </a:r>
          </a:p>
          <a:p>
            <a:pPr>
              <a:spcBef>
                <a:spcPts val="400"/>
              </a:spcBef>
              <a:defRPr sz="1800">
                <a:solidFill>
                  <a:srgbClr val="10B981"/>
                </a:solidFill>
              </a:defRPr>
            </a:pPr>
            <a:r>
              <a:t>HealthVerse bridges the critical gap in emergency healthcare discovery across India.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651760"/>
            <a:ext cx="10362895" cy="27432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2834640"/>
            <a:ext cx="97840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</a:defRPr>
            </a:pPr>
            <a:r>
              <a:t>✔ Unified Healthcare Portal: Combines hospital discovery, beds, ICU, staff, blood inventory, and ambulances.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</a:defRPr>
            </a:pPr>
            <a:r>
              <a:t>✔ Production-Ready Architecture: React 19 + TypeScript + FastAPI + Supabase with Row Level Security.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</a:defRPr>
            </a:pPr>
            <a:r>
              <a:t>✔ Automated Distance Email Alerts: Haversine formula + Resend API integration for emergency notifications.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</a:defRPr>
            </a:pPr>
            <a:r>
              <a:t>✔ Academic Rigor &amp; Code Integrity: Clean TypeScript interfaces, zero compilation errors, and complete IEEE 830 SRS documentation.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66928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CCFBF1"/>
                </a:solidFill>
              </a:defRPr>
            </a:pPr>
            <a:r>
              <a:t>Thank You! Questions &amp; Live Demonstration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